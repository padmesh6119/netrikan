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mo Bold" charset="1" panose="020B0704020202020204"/>
      <p:regular r:id="rId18"/>
    </p:embeddedFont>
    <p:embeddedFont>
      <p:font typeface="Arimo" charset="1" panose="020B0604020202020204"/>
      <p:regular r:id="rId19"/>
    </p:embeddedFont>
    <p:embeddedFont>
      <p:font typeface="Times New Roman MT" charset="1" panose="02030502070405020303"/>
      <p:regular r:id="rId20"/>
    </p:embeddedFont>
    <p:embeddedFont>
      <p:font typeface="Times New Roman MT Bold" charset="1" panose="02030802070405020303"/>
      <p:regular r:id="rId21"/>
    </p:embeddedFont>
    <p:embeddedFont>
      <p:font typeface="Calibri (MS)" charset="1" panose="020F0502020204030204"/>
      <p:regular r:id="rId23"/>
    </p:embeddedFont>
    <p:embeddedFont>
      <p:font typeface="Times New Roman" charset="1" panose="020206030504050203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12" Target="../media/image19.png" Type="http://schemas.openxmlformats.org/officeDocument/2006/relationships/image"/><Relationship Id="rId13" Target="../media/image20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28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shap.readthedocs.io" TargetMode="External" Type="http://schemas.openxmlformats.org/officeDocument/2006/relationships/hyperlink"/><Relationship Id="rId11" Target="https://attack.mitre.org" TargetMode="External" Type="http://schemas.openxmlformats.org/officeDocument/2006/relationships/hyperlink"/><Relationship Id="rId12" Target="https://arxiv.org/abs/2301.04104" TargetMode="External" Type="http://schemas.openxmlformats.org/officeDocument/2006/relationships/hyperlink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31.png" Type="http://schemas.openxmlformats.org/officeDocument/2006/relationships/image"/><Relationship Id="rId6" Target="https://ieeexplore.ieee.org/document/8470942" TargetMode="External" Type="http://schemas.openxmlformats.org/officeDocument/2006/relationships/hyperlink"/><Relationship Id="rId7" Target="https://arxiv.org/abs/2512.15150" TargetMode="External" Type="http://schemas.openxmlformats.org/officeDocument/2006/relationships/hyperlink"/><Relationship Id="rId8" Target="https://www.unb.ca/cic/datasets/ids-2018.html" TargetMode="External" Type="http://schemas.openxmlformats.org/officeDocument/2006/relationships/hyperlink"/><Relationship Id="rId9" Target="https://www.stratosphereips.org/datasets-ctu13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54806" y="1277274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7" y="0"/>
                </a:lnTo>
                <a:lnTo>
                  <a:pt x="6957907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04630" y="3249291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0" y="1869904"/>
            <a:ext cx="10766679" cy="796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26153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Title-AI based Network Attack Forecasting from Network Traffic Data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Blockchain &amp; Cybersecurity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 - 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Sonder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4501" y="-203244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Sonder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00775" y="2821572"/>
            <a:ext cx="8203976" cy="6400480"/>
            <a:chOff x="0" y="0"/>
            <a:chExt cx="2057281" cy="16050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57281" cy="1605025"/>
            </a:xfrm>
            <a:custGeom>
              <a:avLst/>
              <a:gdLst/>
              <a:ahLst/>
              <a:cxnLst/>
              <a:rect r="r" b="b" t="t" l="l"/>
              <a:pathLst>
                <a:path h="1605025" w="2057281">
                  <a:moveTo>
                    <a:pt x="26423" y="0"/>
                  </a:moveTo>
                  <a:lnTo>
                    <a:pt x="2030858" y="0"/>
                  </a:lnTo>
                  <a:cubicBezTo>
                    <a:pt x="2045451" y="0"/>
                    <a:pt x="2057281" y="11830"/>
                    <a:pt x="2057281" y="26423"/>
                  </a:cubicBezTo>
                  <a:lnTo>
                    <a:pt x="2057281" y="1578602"/>
                  </a:lnTo>
                  <a:cubicBezTo>
                    <a:pt x="2057281" y="1593195"/>
                    <a:pt x="2045451" y="1605025"/>
                    <a:pt x="2030858" y="1605025"/>
                  </a:cubicBezTo>
                  <a:lnTo>
                    <a:pt x="26423" y="1605025"/>
                  </a:lnTo>
                  <a:cubicBezTo>
                    <a:pt x="11830" y="1605025"/>
                    <a:pt x="0" y="1593195"/>
                    <a:pt x="0" y="1578602"/>
                  </a:cubicBezTo>
                  <a:lnTo>
                    <a:pt x="0" y="26423"/>
                  </a:lnTo>
                  <a:cubicBezTo>
                    <a:pt x="0" y="11830"/>
                    <a:pt x="11830" y="0"/>
                    <a:pt x="26423" y="0"/>
                  </a:cubicBez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057281" cy="1624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48103" y="2890513"/>
            <a:ext cx="8109319" cy="6262598"/>
            <a:chOff x="0" y="0"/>
            <a:chExt cx="2033544" cy="15704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33544" cy="1570449"/>
            </a:xfrm>
            <a:custGeom>
              <a:avLst/>
              <a:gdLst/>
              <a:ahLst/>
              <a:cxnLst/>
              <a:rect r="r" b="b" t="t" l="l"/>
              <a:pathLst>
                <a:path h="1570449" w="2033544">
                  <a:moveTo>
                    <a:pt x="26731" y="0"/>
                  </a:moveTo>
                  <a:lnTo>
                    <a:pt x="2006813" y="0"/>
                  </a:lnTo>
                  <a:cubicBezTo>
                    <a:pt x="2013902" y="0"/>
                    <a:pt x="2020702" y="2816"/>
                    <a:pt x="2025715" y="7829"/>
                  </a:cubicBezTo>
                  <a:cubicBezTo>
                    <a:pt x="2030728" y="12843"/>
                    <a:pt x="2033544" y="19642"/>
                    <a:pt x="2033544" y="26731"/>
                  </a:cubicBezTo>
                  <a:lnTo>
                    <a:pt x="2033544" y="1543717"/>
                  </a:lnTo>
                  <a:cubicBezTo>
                    <a:pt x="2033544" y="1550807"/>
                    <a:pt x="2030728" y="1557606"/>
                    <a:pt x="2025715" y="1562619"/>
                  </a:cubicBezTo>
                  <a:cubicBezTo>
                    <a:pt x="2020702" y="1567633"/>
                    <a:pt x="2013902" y="1570449"/>
                    <a:pt x="2006813" y="1570449"/>
                  </a:cubicBezTo>
                  <a:lnTo>
                    <a:pt x="26731" y="1570449"/>
                  </a:lnTo>
                  <a:cubicBezTo>
                    <a:pt x="19642" y="1570449"/>
                    <a:pt x="12843" y="1567633"/>
                    <a:pt x="7829" y="1562619"/>
                  </a:cubicBezTo>
                  <a:cubicBezTo>
                    <a:pt x="2816" y="1557606"/>
                    <a:pt x="0" y="1550807"/>
                    <a:pt x="0" y="1543717"/>
                  </a:cubicBezTo>
                  <a:lnTo>
                    <a:pt x="0" y="26731"/>
                  </a:lnTo>
                  <a:cubicBezTo>
                    <a:pt x="0" y="19642"/>
                    <a:pt x="2816" y="12843"/>
                    <a:pt x="7829" y="7829"/>
                  </a:cubicBezTo>
                  <a:cubicBezTo>
                    <a:pt x="12843" y="2816"/>
                    <a:pt x="19642" y="0"/>
                    <a:pt x="2673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2033544" cy="1589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Most security tools are like a smoke alarm. Ours is a weather forecast.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Existing systems look at network traffic one piece at a time and shout when something is already on fire. But a real cyber attack isn't one bad moment — it's a sequence. The attacker scans, breaks in, spreads sideways, then steals.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Our system watches the whole network and learns what usually happens next. Once it knows the patterns, it can look ahead — running the situation forward in time to see where things are heading.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It tells the security team three things, in plain terms:</a:t>
              </a:r>
            </a:p>
            <a:p>
              <a:pPr algn="ctr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How likely an attack is in the next minute</a:t>
              </a:r>
            </a:p>
            <a:p>
              <a:pPr algn="ctr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Which stage the attacker is at — scanning, breaking in, spreading, or stealing data</a:t>
              </a:r>
            </a:p>
            <a:p>
              <a:pPr algn="ctr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Why it thinks so — the exact activity that raised the alarm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Runs on a normal computer, completely offline, built entirely with open-source tools.</a:t>
              </a: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064763" y="2788192"/>
            <a:ext cx="8229600" cy="3098970"/>
            <a:chOff x="0" y="0"/>
            <a:chExt cx="4250009" cy="1600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50009" cy="1600400"/>
            </a:xfrm>
            <a:custGeom>
              <a:avLst/>
              <a:gdLst/>
              <a:ahLst/>
              <a:cxnLst/>
              <a:rect r="r" b="b" t="t" l="l"/>
              <a:pathLst>
                <a:path h="1600400" w="4250009">
                  <a:moveTo>
                    <a:pt x="26341" y="0"/>
                  </a:moveTo>
                  <a:lnTo>
                    <a:pt x="4223668" y="0"/>
                  </a:lnTo>
                  <a:cubicBezTo>
                    <a:pt x="4238216" y="0"/>
                    <a:pt x="4250009" y="11793"/>
                    <a:pt x="4250009" y="26341"/>
                  </a:cubicBezTo>
                  <a:lnTo>
                    <a:pt x="4250009" y="1574059"/>
                  </a:lnTo>
                  <a:cubicBezTo>
                    <a:pt x="4250009" y="1581045"/>
                    <a:pt x="4247234" y="1587745"/>
                    <a:pt x="4242294" y="1592685"/>
                  </a:cubicBezTo>
                  <a:cubicBezTo>
                    <a:pt x="4237354" y="1597625"/>
                    <a:pt x="4230654" y="1600400"/>
                    <a:pt x="4223668" y="1600400"/>
                  </a:cubicBezTo>
                  <a:lnTo>
                    <a:pt x="26341" y="1600400"/>
                  </a:lnTo>
                  <a:cubicBezTo>
                    <a:pt x="19355" y="1600400"/>
                    <a:pt x="12655" y="1597625"/>
                    <a:pt x="7715" y="1592685"/>
                  </a:cubicBezTo>
                  <a:cubicBezTo>
                    <a:pt x="2775" y="1587745"/>
                    <a:pt x="0" y="1581045"/>
                    <a:pt x="0" y="1574059"/>
                  </a:cubicBezTo>
                  <a:lnTo>
                    <a:pt x="0" y="26341"/>
                  </a:lnTo>
                  <a:cubicBezTo>
                    <a:pt x="0" y="19355"/>
                    <a:pt x="2775" y="12655"/>
                    <a:pt x="7715" y="7715"/>
                  </a:cubicBezTo>
                  <a:cubicBezTo>
                    <a:pt x="12655" y="2775"/>
                    <a:pt x="19355" y="0"/>
                    <a:pt x="26341" y="0"/>
                  </a:cubicBez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250009" cy="161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12239" y="2821572"/>
            <a:ext cx="8134647" cy="3032210"/>
            <a:chOff x="0" y="0"/>
            <a:chExt cx="4200973" cy="156592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00973" cy="1565923"/>
            </a:xfrm>
            <a:custGeom>
              <a:avLst/>
              <a:gdLst/>
              <a:ahLst/>
              <a:cxnLst/>
              <a:rect r="r" b="b" t="t" l="l"/>
              <a:pathLst>
                <a:path h="1565923" w="4200973">
                  <a:moveTo>
                    <a:pt x="26648" y="0"/>
                  </a:moveTo>
                  <a:lnTo>
                    <a:pt x="4174324" y="0"/>
                  </a:lnTo>
                  <a:cubicBezTo>
                    <a:pt x="4181392" y="0"/>
                    <a:pt x="4188170" y="2808"/>
                    <a:pt x="4193168" y="7805"/>
                  </a:cubicBezTo>
                  <a:cubicBezTo>
                    <a:pt x="4198165" y="12803"/>
                    <a:pt x="4200973" y="19581"/>
                    <a:pt x="4200973" y="26648"/>
                  </a:cubicBezTo>
                  <a:lnTo>
                    <a:pt x="4200973" y="1539275"/>
                  </a:lnTo>
                  <a:cubicBezTo>
                    <a:pt x="4200973" y="1546342"/>
                    <a:pt x="4198165" y="1553121"/>
                    <a:pt x="4193168" y="1558118"/>
                  </a:cubicBezTo>
                  <a:cubicBezTo>
                    <a:pt x="4188170" y="1563116"/>
                    <a:pt x="4181392" y="1565923"/>
                    <a:pt x="4174324" y="1565923"/>
                  </a:cubicBezTo>
                  <a:lnTo>
                    <a:pt x="26648" y="1565923"/>
                  </a:lnTo>
                  <a:cubicBezTo>
                    <a:pt x="19581" y="1565923"/>
                    <a:pt x="12803" y="1563116"/>
                    <a:pt x="7805" y="1558118"/>
                  </a:cubicBezTo>
                  <a:cubicBezTo>
                    <a:pt x="2808" y="1553121"/>
                    <a:pt x="0" y="1546342"/>
                    <a:pt x="0" y="1539275"/>
                  </a:cubicBezTo>
                  <a:lnTo>
                    <a:pt x="0" y="26648"/>
                  </a:lnTo>
                  <a:cubicBezTo>
                    <a:pt x="0" y="19581"/>
                    <a:pt x="2808" y="12803"/>
                    <a:pt x="7805" y="7805"/>
                  </a:cubicBezTo>
                  <a:cubicBezTo>
                    <a:pt x="12803" y="2808"/>
                    <a:pt x="19581" y="0"/>
                    <a:pt x="266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200973" cy="1584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064763" y="6116124"/>
            <a:ext cx="8194537" cy="3085767"/>
            <a:chOff x="0" y="0"/>
            <a:chExt cx="4250009" cy="1600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50009" cy="1600400"/>
            </a:xfrm>
            <a:custGeom>
              <a:avLst/>
              <a:gdLst/>
              <a:ahLst/>
              <a:cxnLst/>
              <a:rect r="r" b="b" t="t" l="l"/>
              <a:pathLst>
                <a:path h="1600400" w="4250009">
                  <a:moveTo>
                    <a:pt x="26453" y="0"/>
                  </a:moveTo>
                  <a:lnTo>
                    <a:pt x="4223555" y="0"/>
                  </a:lnTo>
                  <a:cubicBezTo>
                    <a:pt x="4238165" y="0"/>
                    <a:pt x="4250009" y="11844"/>
                    <a:pt x="4250009" y="26453"/>
                  </a:cubicBezTo>
                  <a:lnTo>
                    <a:pt x="4250009" y="1573946"/>
                  </a:lnTo>
                  <a:cubicBezTo>
                    <a:pt x="4250009" y="1580962"/>
                    <a:pt x="4247222" y="1587691"/>
                    <a:pt x="4242261" y="1592652"/>
                  </a:cubicBezTo>
                  <a:cubicBezTo>
                    <a:pt x="4237300" y="1597613"/>
                    <a:pt x="4230571" y="1600400"/>
                    <a:pt x="4223555" y="1600400"/>
                  </a:cubicBezTo>
                  <a:lnTo>
                    <a:pt x="26453" y="1600400"/>
                  </a:lnTo>
                  <a:cubicBezTo>
                    <a:pt x="19438" y="1600400"/>
                    <a:pt x="12709" y="1597613"/>
                    <a:pt x="7748" y="1592652"/>
                  </a:cubicBezTo>
                  <a:cubicBezTo>
                    <a:pt x="2787" y="1587691"/>
                    <a:pt x="0" y="1580962"/>
                    <a:pt x="0" y="1573946"/>
                  </a:cubicBezTo>
                  <a:lnTo>
                    <a:pt x="0" y="26453"/>
                  </a:lnTo>
                  <a:cubicBezTo>
                    <a:pt x="0" y="19438"/>
                    <a:pt x="2787" y="12709"/>
                    <a:pt x="7748" y="7748"/>
                  </a:cubicBezTo>
                  <a:cubicBezTo>
                    <a:pt x="12709" y="2787"/>
                    <a:pt x="19438" y="0"/>
                    <a:pt x="26453" y="0"/>
                  </a:cubicBez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4250009" cy="161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12037" y="6149361"/>
            <a:ext cx="8099989" cy="3019292"/>
            <a:chOff x="0" y="0"/>
            <a:chExt cx="4200973" cy="156592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00973" cy="1565923"/>
            </a:xfrm>
            <a:custGeom>
              <a:avLst/>
              <a:gdLst/>
              <a:ahLst/>
              <a:cxnLst/>
              <a:rect r="r" b="b" t="t" l="l"/>
              <a:pathLst>
                <a:path h="1565923" w="4200973">
                  <a:moveTo>
                    <a:pt x="26762" y="0"/>
                  </a:moveTo>
                  <a:lnTo>
                    <a:pt x="4174210" y="0"/>
                  </a:lnTo>
                  <a:cubicBezTo>
                    <a:pt x="4188991" y="0"/>
                    <a:pt x="4200973" y="11982"/>
                    <a:pt x="4200973" y="26762"/>
                  </a:cubicBezTo>
                  <a:lnTo>
                    <a:pt x="4200973" y="1539161"/>
                  </a:lnTo>
                  <a:cubicBezTo>
                    <a:pt x="4200973" y="1546259"/>
                    <a:pt x="4198153" y="1553066"/>
                    <a:pt x="4193134" y="1558085"/>
                  </a:cubicBezTo>
                  <a:cubicBezTo>
                    <a:pt x="4188115" y="1563104"/>
                    <a:pt x="4181308" y="1565923"/>
                    <a:pt x="4174210" y="1565923"/>
                  </a:cubicBezTo>
                  <a:lnTo>
                    <a:pt x="26762" y="1565923"/>
                  </a:lnTo>
                  <a:cubicBezTo>
                    <a:pt x="11982" y="1565923"/>
                    <a:pt x="0" y="1553941"/>
                    <a:pt x="0" y="1539161"/>
                  </a:cubicBezTo>
                  <a:lnTo>
                    <a:pt x="0" y="26762"/>
                  </a:lnTo>
                  <a:cubicBezTo>
                    <a:pt x="0" y="11982"/>
                    <a:pt x="11982" y="0"/>
                    <a:pt x="267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4200973" cy="1584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4904666" y="3357278"/>
            <a:ext cx="2022101" cy="2052894"/>
          </a:xfrm>
          <a:custGeom>
            <a:avLst/>
            <a:gdLst/>
            <a:ahLst/>
            <a:cxnLst/>
            <a:rect r="r" b="b" t="t" l="l"/>
            <a:pathLst>
              <a:path h="2052894" w="2022101">
                <a:moveTo>
                  <a:pt x="0" y="0"/>
                </a:moveTo>
                <a:lnTo>
                  <a:pt x="2022101" y="0"/>
                </a:lnTo>
                <a:lnTo>
                  <a:pt x="2022101" y="2052895"/>
                </a:lnTo>
                <a:lnTo>
                  <a:pt x="0" y="20528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842285" y="6391987"/>
            <a:ext cx="1309235" cy="2402267"/>
          </a:xfrm>
          <a:custGeom>
            <a:avLst/>
            <a:gdLst/>
            <a:ahLst/>
            <a:cxnLst/>
            <a:rect r="r" b="b" t="t" l="l"/>
            <a:pathLst>
              <a:path h="2402267" w="1309235">
                <a:moveTo>
                  <a:pt x="0" y="0"/>
                </a:moveTo>
                <a:lnTo>
                  <a:pt x="1309236" y="0"/>
                </a:lnTo>
                <a:lnTo>
                  <a:pt x="1309236" y="2402267"/>
                </a:lnTo>
                <a:lnTo>
                  <a:pt x="0" y="240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981075" y="3300772"/>
            <a:ext cx="7475401" cy="5628537"/>
          </a:xfrm>
          <a:custGeom>
            <a:avLst/>
            <a:gdLst/>
            <a:ahLst/>
            <a:cxnLst/>
            <a:rect r="r" b="b" t="t" l="l"/>
            <a:pathLst>
              <a:path h="5628537" w="7475401">
                <a:moveTo>
                  <a:pt x="0" y="0"/>
                </a:moveTo>
                <a:lnTo>
                  <a:pt x="7475401" y="0"/>
                </a:lnTo>
                <a:lnTo>
                  <a:pt x="7475401" y="5628537"/>
                </a:lnTo>
                <a:lnTo>
                  <a:pt x="0" y="56285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3811650" y="1825581"/>
            <a:ext cx="9691545" cy="45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b="true" sz="293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Forecasting Attacker Progression from Network Traffic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375300" y="3746480"/>
            <a:ext cx="5294828" cy="180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1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oday's tools alert </a:t>
            </a:r>
            <a:r>
              <a:rPr lang="en-US" b="true" sz="19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after</a:t>
            </a:r>
            <a:r>
              <a:rPr lang="en-US" sz="1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the damage. </a:t>
            </a:r>
          </a:p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Ours warns before, with time to act.</a:t>
            </a:r>
          </a:p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Nearly 99% of current security alerts are false, so real threats get ignored.</a:t>
            </a:r>
          </a:p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Ours only alerts when confident. When unsure, it asks a human.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505062" y="3076310"/>
            <a:ext cx="5294828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1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What it conveys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33555" y="3019160"/>
            <a:ext cx="611775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How an attack unfolds, and where we step in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309820" y="6306262"/>
            <a:ext cx="3882740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Why this is different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612678" y="6918276"/>
            <a:ext cx="5121023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Existing tools recognise attacks. Ours predicts what comes next.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It also says how confident it is, so analysts stop drowning in false alarms.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And it can test a fix before applying it: isolate this host, risk drops 78% to 9%.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Sonder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338084" y="1595752"/>
            <a:ext cx="5536486" cy="7650484"/>
          </a:xfrm>
          <a:custGeom>
            <a:avLst/>
            <a:gdLst/>
            <a:ahLst/>
            <a:cxnLst/>
            <a:rect r="r" b="b" t="t" l="l"/>
            <a:pathLst>
              <a:path h="7650484" w="5536486">
                <a:moveTo>
                  <a:pt x="0" y="0"/>
                </a:moveTo>
                <a:lnTo>
                  <a:pt x="5536486" y="0"/>
                </a:lnTo>
                <a:lnTo>
                  <a:pt x="5536486" y="7650484"/>
                </a:lnTo>
                <a:lnTo>
                  <a:pt x="0" y="76504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938" r="-1715" b="-2476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3193693" y="2018974"/>
            <a:ext cx="4851210" cy="4896487"/>
            <a:chOff x="0" y="0"/>
            <a:chExt cx="6468280" cy="652865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468280" cy="1195853"/>
              <a:chOff x="0" y="0"/>
              <a:chExt cx="2198188" cy="4064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198188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198188">
                    <a:moveTo>
                      <a:pt x="1994988" y="0"/>
                    </a:moveTo>
                    <a:cubicBezTo>
                      <a:pt x="2107212" y="0"/>
                      <a:pt x="2198188" y="90976"/>
                      <a:pt x="2198188" y="203200"/>
                    </a:cubicBezTo>
                    <a:cubicBezTo>
                      <a:pt x="2198188" y="315424"/>
                      <a:pt x="2107212" y="406400"/>
                      <a:pt x="1994988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545454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19050"/>
                <a:ext cx="2198188" cy="425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75394" y="92337"/>
              <a:ext cx="1134073" cy="1000759"/>
              <a:chOff x="0" y="0"/>
              <a:chExt cx="921075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2107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921075">
                    <a:moveTo>
                      <a:pt x="460538" y="0"/>
                    </a:moveTo>
                    <a:cubicBezTo>
                      <a:pt x="206190" y="0"/>
                      <a:pt x="0" y="181951"/>
                      <a:pt x="0" y="406400"/>
                    </a:cubicBezTo>
                    <a:cubicBezTo>
                      <a:pt x="0" y="630849"/>
                      <a:pt x="206190" y="812800"/>
                      <a:pt x="460538" y="812800"/>
                    </a:cubicBezTo>
                    <a:cubicBezTo>
                      <a:pt x="714886" y="812800"/>
                      <a:pt x="921075" y="630849"/>
                      <a:pt x="921075" y="406400"/>
                    </a:cubicBezTo>
                    <a:cubicBezTo>
                      <a:pt x="921075" y="181951"/>
                      <a:pt x="714886" y="0"/>
                      <a:pt x="46053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86351" y="57150"/>
                <a:ext cx="748374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333199"/>
              <a:ext cx="6468280" cy="1195853"/>
              <a:chOff x="0" y="0"/>
              <a:chExt cx="2198188" cy="406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198188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198188">
                    <a:moveTo>
                      <a:pt x="1994988" y="0"/>
                    </a:moveTo>
                    <a:cubicBezTo>
                      <a:pt x="2107212" y="0"/>
                      <a:pt x="2198188" y="90976"/>
                      <a:pt x="2198188" y="203200"/>
                    </a:cubicBezTo>
                    <a:cubicBezTo>
                      <a:pt x="2198188" y="315424"/>
                      <a:pt x="2107212" y="406400"/>
                      <a:pt x="1994988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7A0000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19050"/>
                <a:ext cx="2198188" cy="425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5394" y="1425537"/>
              <a:ext cx="1134073" cy="1000759"/>
              <a:chOff x="0" y="0"/>
              <a:chExt cx="921075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92107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921075">
                    <a:moveTo>
                      <a:pt x="460538" y="0"/>
                    </a:moveTo>
                    <a:cubicBezTo>
                      <a:pt x="206190" y="0"/>
                      <a:pt x="0" y="181951"/>
                      <a:pt x="0" y="406400"/>
                    </a:cubicBezTo>
                    <a:cubicBezTo>
                      <a:pt x="0" y="630849"/>
                      <a:pt x="206190" y="812800"/>
                      <a:pt x="460538" y="812800"/>
                    </a:cubicBezTo>
                    <a:cubicBezTo>
                      <a:pt x="714886" y="812800"/>
                      <a:pt x="921075" y="630849"/>
                      <a:pt x="921075" y="406400"/>
                    </a:cubicBezTo>
                    <a:cubicBezTo>
                      <a:pt x="921075" y="181951"/>
                      <a:pt x="714886" y="0"/>
                      <a:pt x="46053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86351" y="57150"/>
                <a:ext cx="748374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2666399"/>
              <a:ext cx="6468280" cy="1195853"/>
              <a:chOff x="0" y="0"/>
              <a:chExt cx="2198188" cy="4064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198188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198188">
                    <a:moveTo>
                      <a:pt x="1994988" y="0"/>
                    </a:moveTo>
                    <a:cubicBezTo>
                      <a:pt x="2107212" y="0"/>
                      <a:pt x="2198188" y="90976"/>
                      <a:pt x="2198188" y="203200"/>
                    </a:cubicBezTo>
                    <a:cubicBezTo>
                      <a:pt x="2198188" y="315424"/>
                      <a:pt x="2107212" y="406400"/>
                      <a:pt x="1994988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19050"/>
                <a:ext cx="2198188" cy="425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175394" y="2758736"/>
              <a:ext cx="1134073" cy="1000759"/>
              <a:chOff x="0" y="0"/>
              <a:chExt cx="921075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92107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921075">
                    <a:moveTo>
                      <a:pt x="460538" y="0"/>
                    </a:moveTo>
                    <a:cubicBezTo>
                      <a:pt x="206190" y="0"/>
                      <a:pt x="0" y="181951"/>
                      <a:pt x="0" y="406400"/>
                    </a:cubicBezTo>
                    <a:cubicBezTo>
                      <a:pt x="0" y="630849"/>
                      <a:pt x="206190" y="812800"/>
                      <a:pt x="460538" y="812800"/>
                    </a:cubicBezTo>
                    <a:cubicBezTo>
                      <a:pt x="714886" y="812800"/>
                      <a:pt x="921075" y="630849"/>
                      <a:pt x="921075" y="406400"/>
                    </a:cubicBezTo>
                    <a:cubicBezTo>
                      <a:pt x="921075" y="181951"/>
                      <a:pt x="714886" y="0"/>
                      <a:pt x="46053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86351" y="57150"/>
                <a:ext cx="748374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3999598"/>
              <a:ext cx="6468280" cy="1195853"/>
              <a:chOff x="0" y="0"/>
              <a:chExt cx="2198188" cy="4064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198188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198188">
                    <a:moveTo>
                      <a:pt x="1994988" y="0"/>
                    </a:moveTo>
                    <a:cubicBezTo>
                      <a:pt x="2107212" y="0"/>
                      <a:pt x="2198188" y="90976"/>
                      <a:pt x="2198188" y="203200"/>
                    </a:cubicBezTo>
                    <a:cubicBezTo>
                      <a:pt x="2198188" y="315424"/>
                      <a:pt x="2107212" y="406400"/>
                      <a:pt x="1994988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4B3232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19050"/>
                <a:ext cx="2198188" cy="425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75394" y="4091935"/>
              <a:ext cx="1134073" cy="1000759"/>
              <a:chOff x="0" y="0"/>
              <a:chExt cx="921075" cy="8128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92107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921075">
                    <a:moveTo>
                      <a:pt x="460538" y="0"/>
                    </a:moveTo>
                    <a:cubicBezTo>
                      <a:pt x="206190" y="0"/>
                      <a:pt x="0" y="181951"/>
                      <a:pt x="0" y="406400"/>
                    </a:cubicBezTo>
                    <a:cubicBezTo>
                      <a:pt x="0" y="630849"/>
                      <a:pt x="206190" y="812800"/>
                      <a:pt x="460538" y="812800"/>
                    </a:cubicBezTo>
                    <a:cubicBezTo>
                      <a:pt x="714886" y="812800"/>
                      <a:pt x="921075" y="630849"/>
                      <a:pt x="921075" y="406400"/>
                    </a:cubicBezTo>
                    <a:cubicBezTo>
                      <a:pt x="921075" y="181951"/>
                      <a:pt x="714886" y="0"/>
                      <a:pt x="46053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86351" y="57150"/>
                <a:ext cx="748374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5332797"/>
              <a:ext cx="6468280" cy="1195853"/>
              <a:chOff x="0" y="0"/>
              <a:chExt cx="2198188" cy="4064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2198188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198188">
                    <a:moveTo>
                      <a:pt x="1994988" y="0"/>
                    </a:moveTo>
                    <a:cubicBezTo>
                      <a:pt x="2107212" y="0"/>
                      <a:pt x="2198188" y="90976"/>
                      <a:pt x="2198188" y="203200"/>
                    </a:cubicBezTo>
                    <a:cubicBezTo>
                      <a:pt x="2198188" y="315424"/>
                      <a:pt x="2107212" y="406400"/>
                      <a:pt x="1994988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7D0070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19050"/>
                <a:ext cx="2198188" cy="425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175394" y="5425134"/>
              <a:ext cx="1134073" cy="1000759"/>
              <a:chOff x="0" y="0"/>
              <a:chExt cx="921075" cy="8128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92107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921075">
                    <a:moveTo>
                      <a:pt x="460538" y="0"/>
                    </a:moveTo>
                    <a:cubicBezTo>
                      <a:pt x="206190" y="0"/>
                      <a:pt x="0" y="181951"/>
                      <a:pt x="0" y="406400"/>
                    </a:cubicBezTo>
                    <a:cubicBezTo>
                      <a:pt x="0" y="630849"/>
                      <a:pt x="206190" y="812800"/>
                      <a:pt x="460538" y="812800"/>
                    </a:cubicBezTo>
                    <a:cubicBezTo>
                      <a:pt x="714886" y="812800"/>
                      <a:pt x="921075" y="630849"/>
                      <a:pt x="921075" y="406400"/>
                    </a:cubicBezTo>
                    <a:cubicBezTo>
                      <a:pt x="921075" y="181951"/>
                      <a:pt x="714886" y="0"/>
                      <a:pt x="46053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86351" y="57150"/>
                <a:ext cx="748374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Freeform 50" id="50"/>
            <p:cNvSpPr/>
            <p:nvPr/>
          </p:nvSpPr>
          <p:spPr>
            <a:xfrm flipH="false" flipV="false" rot="0">
              <a:off x="334285" y="5620571"/>
              <a:ext cx="868703" cy="630303"/>
            </a:xfrm>
            <a:custGeom>
              <a:avLst/>
              <a:gdLst/>
              <a:ahLst/>
              <a:cxnLst/>
              <a:rect r="r" b="b" t="t" l="l"/>
              <a:pathLst>
                <a:path h="630303" w="868703">
                  <a:moveTo>
                    <a:pt x="0" y="0"/>
                  </a:moveTo>
                  <a:lnTo>
                    <a:pt x="868703" y="0"/>
                  </a:lnTo>
                  <a:lnTo>
                    <a:pt x="868703" y="630302"/>
                  </a:lnTo>
                  <a:lnTo>
                    <a:pt x="0" y="63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6660" r="0" b="-6660"/>
              </a:stretch>
            </a:blip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290899" y="4215428"/>
              <a:ext cx="881466" cy="767475"/>
            </a:xfrm>
            <a:custGeom>
              <a:avLst/>
              <a:gdLst/>
              <a:ahLst/>
              <a:cxnLst/>
              <a:rect r="r" b="b" t="t" l="l"/>
              <a:pathLst>
                <a:path h="767475" w="881466">
                  <a:moveTo>
                    <a:pt x="0" y="0"/>
                  </a:moveTo>
                  <a:lnTo>
                    <a:pt x="881466" y="0"/>
                  </a:lnTo>
                  <a:lnTo>
                    <a:pt x="881466" y="767475"/>
                  </a:lnTo>
                  <a:lnTo>
                    <a:pt x="0" y="767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6660" r="0" b="-6660"/>
              </a:stretch>
            </a:blip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298311" y="1532233"/>
              <a:ext cx="862792" cy="761368"/>
            </a:xfrm>
            <a:custGeom>
              <a:avLst/>
              <a:gdLst/>
              <a:ahLst/>
              <a:cxnLst/>
              <a:rect r="r" b="b" t="t" l="l"/>
              <a:pathLst>
                <a:path h="761368" w="862792">
                  <a:moveTo>
                    <a:pt x="0" y="0"/>
                  </a:moveTo>
                  <a:lnTo>
                    <a:pt x="862791" y="0"/>
                  </a:lnTo>
                  <a:lnTo>
                    <a:pt x="862791" y="761368"/>
                  </a:lnTo>
                  <a:lnTo>
                    <a:pt x="0" y="761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6660" r="0" b="-6660"/>
              </a:stretch>
            </a:blip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298311" y="2916444"/>
              <a:ext cx="854228" cy="719768"/>
            </a:xfrm>
            <a:custGeom>
              <a:avLst/>
              <a:gdLst/>
              <a:ahLst/>
              <a:cxnLst/>
              <a:rect r="r" b="b" t="t" l="l"/>
              <a:pathLst>
                <a:path h="719768" w="854228">
                  <a:moveTo>
                    <a:pt x="0" y="0"/>
                  </a:moveTo>
                  <a:lnTo>
                    <a:pt x="854228" y="0"/>
                  </a:lnTo>
                  <a:lnTo>
                    <a:pt x="854228" y="719768"/>
                  </a:lnTo>
                  <a:lnTo>
                    <a:pt x="0" y="719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6660" r="0" b="-6660"/>
              </a:stretch>
            </a:blip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305156" y="255527"/>
              <a:ext cx="874549" cy="691794"/>
            </a:xfrm>
            <a:custGeom>
              <a:avLst/>
              <a:gdLst/>
              <a:ahLst/>
              <a:cxnLst/>
              <a:rect r="r" b="b" t="t" l="l"/>
              <a:pathLst>
                <a:path h="691794" w="874549">
                  <a:moveTo>
                    <a:pt x="0" y="0"/>
                  </a:moveTo>
                  <a:lnTo>
                    <a:pt x="874549" y="0"/>
                  </a:lnTo>
                  <a:lnTo>
                    <a:pt x="874549" y="691794"/>
                  </a:lnTo>
                  <a:lnTo>
                    <a:pt x="0" y="691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0354" r="0" b="-1035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 rot="0">
              <a:off x="1523459" y="169008"/>
              <a:ext cx="3522010" cy="293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53"/>
                </a:lnSpc>
                <a:spcBef>
                  <a:spcPct val="0"/>
                </a:spcBef>
              </a:pPr>
              <a:r>
                <a:rPr lang="en-US" b="true" sz="1377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Reading the traffic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1526348" y="593611"/>
              <a:ext cx="4340610" cy="428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35"/>
                </a:lnSpc>
                <a:spcBef>
                  <a:spcPct val="0"/>
                </a:spcBef>
              </a:pPr>
              <a:r>
                <a:rPr lang="en-US" b="true" sz="1029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Zeek and CICFlowMeter turn raw network traffic into readable data.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1523459" y="1501393"/>
              <a:ext cx="3522010" cy="287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06"/>
                </a:lnSpc>
                <a:spcBef>
                  <a:spcPct val="0"/>
                </a:spcBef>
              </a:pPr>
              <a:r>
                <a:rPr lang="en-US" b="true" sz="1338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The learning part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1523459" y="1916391"/>
              <a:ext cx="4121209" cy="428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235"/>
                </a:lnSpc>
                <a:spcBef>
                  <a:spcPct val="0"/>
                </a:spcBef>
              </a:pPr>
              <a:r>
                <a:rPr lang="en-US" b="true" sz="1029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PyTorch trains the model that learns how attacks unfold.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1533760" y="2830477"/>
              <a:ext cx="3434924" cy="287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06"/>
                </a:lnSpc>
                <a:spcBef>
                  <a:spcPct val="0"/>
                </a:spcBef>
              </a:pPr>
              <a:r>
                <a:rPr lang="en-US" b="true" sz="1338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Explainability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1526189" y="5490335"/>
              <a:ext cx="3449858" cy="287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06"/>
                </a:lnSpc>
                <a:spcBef>
                  <a:spcPct val="0"/>
                </a:spcBef>
              </a:pPr>
              <a:r>
                <a:rPr lang="en-US" b="true" sz="1338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Deployment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1526348" y="4150596"/>
              <a:ext cx="2720329" cy="287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06"/>
                </a:lnSpc>
                <a:spcBef>
                  <a:spcPct val="0"/>
                </a:spcBef>
              </a:pPr>
              <a:r>
                <a:rPr lang="en-US" b="true" sz="1338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Interface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1533760" y="3232395"/>
              <a:ext cx="4475548" cy="415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35"/>
                </a:lnSpc>
                <a:spcBef>
                  <a:spcPct val="0"/>
                </a:spcBef>
              </a:pPr>
              <a:r>
                <a:rPr lang="en-US" b="true" sz="1029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SHAP explains each alert. Confidence scores show how sure the model is.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1523459" y="4578675"/>
              <a:ext cx="4272791" cy="415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35"/>
                </a:lnSpc>
                <a:spcBef>
                  <a:spcPct val="0"/>
                </a:spcBef>
              </a:pPr>
              <a:r>
                <a:rPr lang="en-US" b="true" sz="1029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FastAPI and Streamlit display the risk score, stage and timeline.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1523459" y="5943956"/>
              <a:ext cx="4272791" cy="415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35"/>
                </a:lnSpc>
                <a:spcBef>
                  <a:spcPct val="0"/>
                </a:spcBef>
              </a:pPr>
              <a:r>
                <a:rPr lang="en-US" b="true" sz="1029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Docker Compose runs the full stack offline and tcpreplay drives the live demo.</a:t>
              </a:r>
            </a:p>
          </p:txBody>
        </p:sp>
      </p:grpSp>
      <p:sp>
        <p:nvSpPr>
          <p:cNvPr name="Freeform 65" id="65"/>
          <p:cNvSpPr/>
          <p:nvPr/>
        </p:nvSpPr>
        <p:spPr>
          <a:xfrm flipH="false" flipV="false" rot="0">
            <a:off x="11351014" y="8473040"/>
            <a:ext cx="1842679" cy="911414"/>
          </a:xfrm>
          <a:custGeom>
            <a:avLst/>
            <a:gdLst/>
            <a:ahLst/>
            <a:cxnLst/>
            <a:rect r="r" b="b" t="t" l="l"/>
            <a:pathLst>
              <a:path h="911414" w="1842679">
                <a:moveTo>
                  <a:pt x="0" y="0"/>
                </a:moveTo>
                <a:lnTo>
                  <a:pt x="1842679" y="0"/>
                </a:lnTo>
                <a:lnTo>
                  <a:pt x="1842679" y="911414"/>
                </a:lnTo>
                <a:lnTo>
                  <a:pt x="0" y="9114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20739" r="0" b="-1987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3144288" y="7297161"/>
            <a:ext cx="4950020" cy="2115684"/>
          </a:xfrm>
          <a:custGeom>
            <a:avLst/>
            <a:gdLst/>
            <a:ahLst/>
            <a:cxnLst/>
            <a:rect r="r" b="b" t="t" l="l"/>
            <a:pathLst>
              <a:path h="2115684" w="4950020">
                <a:moveTo>
                  <a:pt x="0" y="0"/>
                </a:moveTo>
                <a:lnTo>
                  <a:pt x="4950020" y="0"/>
                </a:lnTo>
                <a:lnTo>
                  <a:pt x="4950020" y="2115684"/>
                </a:lnTo>
                <a:lnTo>
                  <a:pt x="0" y="211568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1327" t="-4416" r="-2642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6867853" y="2691624"/>
            <a:ext cx="5088239" cy="5781416"/>
          </a:xfrm>
          <a:custGeom>
            <a:avLst/>
            <a:gdLst/>
            <a:ahLst/>
            <a:cxnLst/>
            <a:rect r="r" b="b" t="t" l="l"/>
            <a:pathLst>
              <a:path h="5781416" w="5088239">
                <a:moveTo>
                  <a:pt x="0" y="0"/>
                </a:moveTo>
                <a:lnTo>
                  <a:pt x="5088239" y="0"/>
                </a:lnTo>
                <a:lnTo>
                  <a:pt x="5088239" y="5781416"/>
                </a:lnTo>
                <a:lnTo>
                  <a:pt x="0" y="578141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4439" t="0" r="-19778" b="-8929"/>
            </a:stretch>
          </a:blipFill>
        </p:spPr>
      </p:sp>
      <p:sp>
        <p:nvSpPr>
          <p:cNvPr name="TextBox 68" id="68"/>
          <p:cNvSpPr txBox="true"/>
          <p:nvPr/>
        </p:nvSpPr>
        <p:spPr>
          <a:xfrm rot="0">
            <a:off x="6361564" y="1707943"/>
            <a:ext cx="5910790" cy="91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1"/>
              </a:lnSpc>
              <a:spcBef>
                <a:spcPct val="0"/>
              </a:spcBef>
            </a:pPr>
            <a:r>
              <a:rPr lang="en-US" b="true" sz="294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 &amp; PROCESS OF</a:t>
            </a:r>
          </a:p>
          <a:p>
            <a:pPr algn="ctr">
              <a:lnSpc>
                <a:spcPts val="3531"/>
              </a:lnSpc>
              <a:spcBef>
                <a:spcPct val="0"/>
              </a:spcBef>
            </a:pPr>
            <a:r>
              <a:rPr lang="en-US" b="true" sz="294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1757344"/>
          <a:ext cx="16596465" cy="7500956"/>
        </p:xfrm>
        <a:graphic>
          <a:graphicData uri="http://schemas.openxmlformats.org/drawingml/2006/table">
            <a:tbl>
              <a:tblPr/>
              <a:tblGrid>
                <a:gridCol w="7983392"/>
                <a:gridCol w="8613073"/>
              </a:tblGrid>
              <a:tr h="8738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2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654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92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5" id="5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Sonder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9313617" y="4478334"/>
            <a:ext cx="642061" cy="470476"/>
          </a:xfrm>
          <a:custGeom>
            <a:avLst/>
            <a:gdLst/>
            <a:ahLst/>
            <a:cxnLst/>
            <a:rect r="r" b="b" t="t" l="l"/>
            <a:pathLst>
              <a:path h="470476" w="642061">
                <a:moveTo>
                  <a:pt x="0" y="0"/>
                </a:moveTo>
                <a:lnTo>
                  <a:pt x="642062" y="0"/>
                </a:lnTo>
                <a:lnTo>
                  <a:pt x="642062" y="470476"/>
                </a:lnTo>
                <a:lnTo>
                  <a:pt x="0" y="4704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343825" y="6165950"/>
            <a:ext cx="581646" cy="620057"/>
          </a:xfrm>
          <a:custGeom>
            <a:avLst/>
            <a:gdLst/>
            <a:ahLst/>
            <a:cxnLst/>
            <a:rect r="r" b="b" t="t" l="l"/>
            <a:pathLst>
              <a:path h="620057" w="581646">
                <a:moveTo>
                  <a:pt x="0" y="0"/>
                </a:moveTo>
                <a:lnTo>
                  <a:pt x="581646" y="0"/>
                </a:lnTo>
                <a:lnTo>
                  <a:pt x="581646" y="620057"/>
                </a:lnTo>
                <a:lnTo>
                  <a:pt x="0" y="6200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399061" y="7872722"/>
            <a:ext cx="566142" cy="561088"/>
          </a:xfrm>
          <a:custGeom>
            <a:avLst/>
            <a:gdLst/>
            <a:ahLst/>
            <a:cxnLst/>
            <a:rect r="r" b="b" t="t" l="l"/>
            <a:pathLst>
              <a:path h="561088" w="566142">
                <a:moveTo>
                  <a:pt x="0" y="0"/>
                </a:moveTo>
                <a:lnTo>
                  <a:pt x="566143" y="0"/>
                </a:lnTo>
                <a:lnTo>
                  <a:pt x="566143" y="561088"/>
                </a:lnTo>
                <a:lnTo>
                  <a:pt x="0" y="5610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96808" y="2784186"/>
            <a:ext cx="727511" cy="703319"/>
          </a:xfrm>
          <a:custGeom>
            <a:avLst/>
            <a:gdLst/>
            <a:ahLst/>
            <a:cxnLst/>
            <a:rect r="r" b="b" t="t" l="l"/>
            <a:pathLst>
              <a:path h="703319" w="727511">
                <a:moveTo>
                  <a:pt x="0" y="0"/>
                </a:moveTo>
                <a:lnTo>
                  <a:pt x="727512" y="0"/>
                </a:lnTo>
                <a:lnTo>
                  <a:pt x="727512" y="703318"/>
                </a:lnTo>
                <a:lnTo>
                  <a:pt x="0" y="7033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4806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96808" y="4432732"/>
            <a:ext cx="834289" cy="615078"/>
          </a:xfrm>
          <a:custGeom>
            <a:avLst/>
            <a:gdLst/>
            <a:ahLst/>
            <a:cxnLst/>
            <a:rect r="r" b="b" t="t" l="l"/>
            <a:pathLst>
              <a:path h="615078" w="834289">
                <a:moveTo>
                  <a:pt x="0" y="0"/>
                </a:moveTo>
                <a:lnTo>
                  <a:pt x="834289" y="0"/>
                </a:lnTo>
                <a:lnTo>
                  <a:pt x="834289" y="615079"/>
                </a:lnTo>
                <a:lnTo>
                  <a:pt x="0" y="6150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964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81460" y="6203521"/>
            <a:ext cx="707067" cy="605512"/>
          </a:xfrm>
          <a:custGeom>
            <a:avLst/>
            <a:gdLst/>
            <a:ahLst/>
            <a:cxnLst/>
            <a:rect r="r" b="b" t="t" l="l"/>
            <a:pathLst>
              <a:path h="605512" w="707067">
                <a:moveTo>
                  <a:pt x="0" y="0"/>
                </a:moveTo>
                <a:lnTo>
                  <a:pt x="707067" y="0"/>
                </a:lnTo>
                <a:lnTo>
                  <a:pt x="707067" y="605512"/>
                </a:lnTo>
                <a:lnTo>
                  <a:pt x="0" y="6055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525" t="0" r="-525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56404" y="7919460"/>
            <a:ext cx="557180" cy="514350"/>
          </a:xfrm>
          <a:custGeom>
            <a:avLst/>
            <a:gdLst/>
            <a:ahLst/>
            <a:cxnLst/>
            <a:rect r="r" b="b" t="t" l="l"/>
            <a:pathLst>
              <a:path h="514350" w="557180">
                <a:moveTo>
                  <a:pt x="0" y="0"/>
                </a:moveTo>
                <a:lnTo>
                  <a:pt x="557180" y="0"/>
                </a:lnTo>
                <a:lnTo>
                  <a:pt x="55718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-3357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304666" y="2747350"/>
            <a:ext cx="675467" cy="559409"/>
          </a:xfrm>
          <a:custGeom>
            <a:avLst/>
            <a:gdLst/>
            <a:ahLst/>
            <a:cxnLst/>
            <a:rect r="r" b="b" t="t" l="l"/>
            <a:pathLst>
              <a:path h="559409" w="675467">
                <a:moveTo>
                  <a:pt x="0" y="0"/>
                </a:moveTo>
                <a:lnTo>
                  <a:pt x="675467" y="0"/>
                </a:lnTo>
                <a:lnTo>
                  <a:pt x="675467" y="559409"/>
                </a:lnTo>
                <a:lnTo>
                  <a:pt x="0" y="55940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10932" r="0" b="-10932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0169796" y="2774661"/>
            <a:ext cx="7455369" cy="40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Real-World Need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169796" y="3317604"/>
            <a:ext cx="6526231" cy="609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70"/>
              </a:lnSpc>
              <a:spcBef>
                <a:spcPct val="0"/>
              </a:spcBef>
            </a:pPr>
            <a:r>
              <a:rPr lang="en-US" sz="19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Predicting multi-stage attack progression addresses the core limitation of reactive intrusion detection systems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52718" y="1979915"/>
            <a:ext cx="61177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FEASIBILITY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169197" y="2831829"/>
            <a:ext cx="611775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Technical Feasibility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08996" y="3346179"/>
            <a:ext cx="6216150" cy="609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70"/>
              </a:lnSpc>
              <a:spcBef>
                <a:spcPct val="0"/>
              </a:spcBef>
            </a:pPr>
            <a:r>
              <a:rPr lang="en-US" sz="19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LSTM-based temporal modelling can learn attack progression from time-windowed network traffic.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1024" y="4491610"/>
            <a:ext cx="611775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Open-Source Technology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337891" y="5028761"/>
            <a:ext cx="6314539" cy="609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70"/>
              </a:lnSpc>
              <a:spcBef>
                <a:spcPct val="0"/>
              </a:spcBef>
            </a:pPr>
            <a:r>
              <a:rPr lang="en-US" sz="19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Scapy, PyShark, PyTorch, Pandas and SHAP provide the required development and ML capabilities.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256621" y="6275633"/>
            <a:ext cx="611775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Deployment Feasibility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256621" y="6789983"/>
            <a:ext cx="6380131" cy="609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70"/>
              </a:lnSpc>
              <a:spcBef>
                <a:spcPct val="0"/>
              </a:spcBef>
            </a:pPr>
            <a:r>
              <a:rPr lang="en-US" sz="19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system can process PCAP/CSV data locally and operate without cloud services or internet connectivity.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47096" y="7952797"/>
            <a:ext cx="611775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Data Availability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256621" y="8467147"/>
            <a:ext cx="6438980" cy="609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70"/>
              </a:lnSpc>
              <a:spcBef>
                <a:spcPct val="0"/>
              </a:spcBef>
            </a:pPr>
            <a:r>
              <a:rPr lang="en-US" sz="19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CIC-IDS-2018 and CTU-13 provide labelled attack traffic for training and validation.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457208" y="2027225"/>
            <a:ext cx="61177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VIABILITY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137842" y="4499260"/>
            <a:ext cx="611775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Security Teams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137842" y="5046810"/>
            <a:ext cx="6828333" cy="609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70"/>
              </a:lnSpc>
              <a:spcBef>
                <a:spcPct val="0"/>
              </a:spcBef>
            </a:pPr>
            <a:r>
              <a:rPr lang="en-US" sz="19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Provides breach probability, predicted ATT&amp;CK stage and explainable traffic features to support SOC analysts.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137842" y="6261666"/>
            <a:ext cx="611775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Government &amp; Enterprises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169796" y="6747441"/>
            <a:ext cx="6728489" cy="609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70"/>
              </a:lnSpc>
              <a:spcBef>
                <a:spcPct val="0"/>
              </a:spcBef>
            </a:pPr>
            <a:r>
              <a:rPr lang="en-US" sz="19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Can support protection of organisational and critical digital infrastructure through earlier threat awareness.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26946" y="7943272"/>
            <a:ext cx="611775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Long-Term Impact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226946" y="8445511"/>
            <a:ext cx="6872076" cy="609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70"/>
              </a:lnSpc>
              <a:spcBef>
                <a:spcPct val="0"/>
              </a:spcBef>
            </a:pPr>
            <a:r>
              <a:rPr lang="en-US" sz="19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Future SIEM integration, automated response and local model fine-tuning can expand practical adoption.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Sonder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0989579" y="2073922"/>
            <a:ext cx="6732117" cy="6823228"/>
          </a:xfrm>
          <a:custGeom>
            <a:avLst/>
            <a:gdLst/>
            <a:ahLst/>
            <a:cxnLst/>
            <a:rect r="r" b="b" t="t" l="l"/>
            <a:pathLst>
              <a:path h="6823228" w="6732117">
                <a:moveTo>
                  <a:pt x="0" y="0"/>
                </a:moveTo>
                <a:lnTo>
                  <a:pt x="6732116" y="0"/>
                </a:lnTo>
                <a:lnTo>
                  <a:pt x="6732116" y="6823227"/>
                </a:lnTo>
                <a:lnTo>
                  <a:pt x="0" y="68232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708" r="0" b="-1708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-413471" y="2684634"/>
            <a:ext cx="12421345" cy="5805939"/>
            <a:chOff x="0" y="0"/>
            <a:chExt cx="16561794" cy="77412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4801757" y="0"/>
              <a:ext cx="7237048" cy="7483721"/>
            </a:xfrm>
            <a:custGeom>
              <a:avLst/>
              <a:gdLst/>
              <a:ahLst/>
              <a:cxnLst/>
              <a:rect r="r" b="b" t="t" l="l"/>
              <a:pathLst>
                <a:path h="7483721" w="7237048">
                  <a:moveTo>
                    <a:pt x="0" y="0"/>
                  </a:moveTo>
                  <a:lnTo>
                    <a:pt x="7237048" y="0"/>
                  </a:lnTo>
                  <a:lnTo>
                    <a:pt x="7237048" y="7483721"/>
                  </a:lnTo>
                  <a:lnTo>
                    <a:pt x="0" y="7483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592" t="0" r="-359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0" y="2251802"/>
              <a:ext cx="6108835" cy="436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4"/>
                </a:lnSpc>
                <a:spcBef>
                  <a:spcPct val="0"/>
                </a:spcBef>
              </a:pPr>
              <a:r>
                <a:rPr lang="en-US" b="true" sz="2087" u="sng">
                  <a:solidFill>
                    <a:srgbClr val="1F497D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Faster Incident Response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0452959" y="2251802"/>
              <a:ext cx="6108835" cy="436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4"/>
                </a:lnSpc>
                <a:spcBef>
                  <a:spcPct val="0"/>
                </a:spcBef>
              </a:pPr>
              <a:r>
                <a:rPr lang="en-US" b="true" sz="2087" u="sng">
                  <a:solidFill>
                    <a:srgbClr val="1F497D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Explainable Alerts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9437199" y="6228781"/>
              <a:ext cx="6108835" cy="436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4"/>
                </a:lnSpc>
                <a:spcBef>
                  <a:spcPct val="0"/>
                </a:spcBef>
              </a:pPr>
              <a:r>
                <a:rPr lang="en-US" b="true" sz="2087" u="sng">
                  <a:solidFill>
                    <a:srgbClr val="1F497D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Cost-Effective Deployment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0247418" y="4450912"/>
              <a:ext cx="6108835" cy="436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4"/>
                </a:lnSpc>
                <a:spcBef>
                  <a:spcPct val="0"/>
                </a:spcBef>
              </a:pPr>
              <a:r>
                <a:rPr lang="en-US" b="true" sz="2087" u="sng">
                  <a:solidFill>
                    <a:srgbClr val="1F497D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Offline Protection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352139" y="6437769"/>
              <a:ext cx="6108835" cy="436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4"/>
                </a:lnSpc>
                <a:spcBef>
                  <a:spcPct val="0"/>
                </a:spcBef>
              </a:pPr>
              <a:r>
                <a:rPr lang="en-US" b="true" sz="2087" u="sng">
                  <a:solidFill>
                    <a:srgbClr val="1F497D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Improved Cyber Resilience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07444" y="4458255"/>
              <a:ext cx="6108835" cy="436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4"/>
                </a:lnSpc>
                <a:spcBef>
                  <a:spcPct val="0"/>
                </a:spcBef>
              </a:pPr>
              <a:r>
                <a:rPr lang="en-US" b="true" sz="2087" u="sng">
                  <a:solidFill>
                    <a:srgbClr val="1F497D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Reduced Security Risk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945833" y="-19050"/>
              <a:ext cx="6108835" cy="436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4"/>
                </a:lnSpc>
                <a:spcBef>
                  <a:spcPct val="0"/>
                </a:spcBef>
              </a:pPr>
              <a:r>
                <a:rPr lang="en-US" b="true" sz="2087" u="sng">
                  <a:solidFill>
                    <a:srgbClr val="1F497D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Early Threat Detection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8984388" y="-19050"/>
              <a:ext cx="6108835" cy="436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4"/>
                </a:lnSpc>
                <a:spcBef>
                  <a:spcPct val="0"/>
                </a:spcBef>
              </a:pPr>
              <a:r>
                <a:rPr lang="en-US" b="true" sz="2087" u="sng">
                  <a:solidFill>
                    <a:srgbClr val="1F497D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Predictive Security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143526" y="508145"/>
              <a:ext cx="3582774" cy="7529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4"/>
                </a:lnSpc>
                <a:spcBef>
                  <a:spcPct val="0"/>
                </a:spcBef>
              </a:pPr>
              <a:r>
                <a:rPr lang="en-US" sz="182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Predicts attacks before breach completion.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241007" y="2802308"/>
              <a:ext cx="3582774" cy="7529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4"/>
                </a:lnSpc>
                <a:spcBef>
                  <a:spcPct val="0"/>
                </a:spcBef>
              </a:pPr>
              <a:r>
                <a:rPr lang="en-US" sz="182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Provides early warnings to SOC teams.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352139" y="4957788"/>
              <a:ext cx="3582774" cy="7529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4"/>
                </a:lnSpc>
                <a:spcBef>
                  <a:spcPct val="0"/>
                </a:spcBef>
              </a:pPr>
              <a:r>
                <a:rPr lang="en-US" sz="182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Identifies slow and multi-stage attacks.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2570616" y="6988274"/>
              <a:ext cx="3582774" cy="7529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4"/>
                </a:lnSpc>
                <a:spcBef>
                  <a:spcPct val="0"/>
                </a:spcBef>
              </a:pPr>
              <a:r>
                <a:rPr lang="en-US" sz="182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Enables proactive network defence.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0247418" y="508145"/>
              <a:ext cx="3582774" cy="7529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4"/>
                </a:lnSpc>
                <a:spcBef>
                  <a:spcPct val="0"/>
                </a:spcBef>
              </a:pPr>
              <a:r>
                <a:rPr lang="en-US" sz="182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Forecasts future attack progression.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1715990" y="2802308"/>
              <a:ext cx="3582774" cy="7529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4"/>
                </a:lnSpc>
                <a:spcBef>
                  <a:spcPct val="0"/>
                </a:spcBef>
              </a:pPr>
              <a:r>
                <a:rPr lang="en-US" sz="182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Highlights features driving predictions.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0644437" y="6730664"/>
              <a:ext cx="3582774" cy="7529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4"/>
                </a:lnSpc>
                <a:spcBef>
                  <a:spcPct val="0"/>
                </a:spcBef>
              </a:pPr>
              <a:r>
                <a:rPr lang="en-US" sz="182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Open-source and standard hardware.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1715990" y="4957788"/>
              <a:ext cx="3582774" cy="7529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4"/>
                </a:lnSpc>
                <a:spcBef>
                  <a:spcPct val="0"/>
                </a:spcBef>
              </a:pPr>
              <a:r>
                <a:rPr lang="en-US" sz="182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Works without cloud or internet dependency.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Sonder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604036" y="2370864"/>
            <a:ext cx="5398148" cy="1889352"/>
          </a:xfrm>
          <a:custGeom>
            <a:avLst/>
            <a:gdLst/>
            <a:ahLst/>
            <a:cxnLst/>
            <a:rect r="r" b="b" t="t" l="l"/>
            <a:pathLst>
              <a:path h="1889352" w="5398148">
                <a:moveTo>
                  <a:pt x="0" y="0"/>
                </a:moveTo>
                <a:lnTo>
                  <a:pt x="5398148" y="0"/>
                </a:lnTo>
                <a:lnTo>
                  <a:pt x="5398148" y="1889352"/>
                </a:lnTo>
                <a:lnTo>
                  <a:pt x="0" y="18893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397301" y="2322195"/>
            <a:ext cx="5398148" cy="1889352"/>
          </a:xfrm>
          <a:custGeom>
            <a:avLst/>
            <a:gdLst/>
            <a:ahLst/>
            <a:cxnLst/>
            <a:rect r="r" b="b" t="t" l="l"/>
            <a:pathLst>
              <a:path h="1889352" w="5398148">
                <a:moveTo>
                  <a:pt x="0" y="0"/>
                </a:moveTo>
                <a:lnTo>
                  <a:pt x="5398148" y="0"/>
                </a:lnTo>
                <a:lnTo>
                  <a:pt x="5398148" y="1889352"/>
                </a:lnTo>
                <a:lnTo>
                  <a:pt x="0" y="18893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166584" y="2322195"/>
            <a:ext cx="5398148" cy="1889352"/>
          </a:xfrm>
          <a:custGeom>
            <a:avLst/>
            <a:gdLst/>
            <a:ahLst/>
            <a:cxnLst/>
            <a:rect r="r" b="b" t="t" l="l"/>
            <a:pathLst>
              <a:path h="1889352" w="5398148">
                <a:moveTo>
                  <a:pt x="0" y="0"/>
                </a:moveTo>
                <a:lnTo>
                  <a:pt x="5398148" y="0"/>
                </a:lnTo>
                <a:lnTo>
                  <a:pt x="5398148" y="1889352"/>
                </a:lnTo>
                <a:lnTo>
                  <a:pt x="0" y="18893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82000" y="4642927"/>
            <a:ext cx="5398148" cy="1889352"/>
          </a:xfrm>
          <a:custGeom>
            <a:avLst/>
            <a:gdLst/>
            <a:ahLst/>
            <a:cxnLst/>
            <a:rect r="r" b="b" t="t" l="l"/>
            <a:pathLst>
              <a:path h="1889352" w="5398148">
                <a:moveTo>
                  <a:pt x="0" y="0"/>
                </a:moveTo>
                <a:lnTo>
                  <a:pt x="5398147" y="0"/>
                </a:lnTo>
                <a:lnTo>
                  <a:pt x="5398147" y="1889352"/>
                </a:lnTo>
                <a:lnTo>
                  <a:pt x="0" y="18893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451283" y="4642927"/>
            <a:ext cx="5398148" cy="1889352"/>
          </a:xfrm>
          <a:custGeom>
            <a:avLst/>
            <a:gdLst/>
            <a:ahLst/>
            <a:cxnLst/>
            <a:rect r="r" b="b" t="t" l="l"/>
            <a:pathLst>
              <a:path h="1889352" w="5398148">
                <a:moveTo>
                  <a:pt x="0" y="0"/>
                </a:moveTo>
                <a:lnTo>
                  <a:pt x="5398147" y="0"/>
                </a:lnTo>
                <a:lnTo>
                  <a:pt x="5398147" y="1889352"/>
                </a:lnTo>
                <a:lnTo>
                  <a:pt x="0" y="18893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220565" y="4642927"/>
            <a:ext cx="5398148" cy="1889352"/>
          </a:xfrm>
          <a:custGeom>
            <a:avLst/>
            <a:gdLst/>
            <a:ahLst/>
            <a:cxnLst/>
            <a:rect r="r" b="b" t="t" l="l"/>
            <a:pathLst>
              <a:path h="1889352" w="5398148">
                <a:moveTo>
                  <a:pt x="0" y="0"/>
                </a:moveTo>
                <a:lnTo>
                  <a:pt x="5398148" y="0"/>
                </a:lnTo>
                <a:lnTo>
                  <a:pt x="5398148" y="1889352"/>
                </a:lnTo>
                <a:lnTo>
                  <a:pt x="0" y="18893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28003" y="2565536"/>
            <a:ext cx="5550214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World Models</a:t>
            </a:r>
          </a:p>
          <a:p>
            <a:pPr algn="ctr">
              <a:lnSpc>
                <a:spcPts val="3119"/>
              </a:lnSpc>
              <a:spcBef>
                <a:spcPct val="0"/>
              </a:spcBef>
            </a:pPr>
          </a:p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Link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289338" y="2565536"/>
            <a:ext cx="550611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Attack Forecasting Survey</a:t>
            </a:r>
          </a:p>
          <a:p>
            <a:pPr algn="ctr">
              <a:lnSpc>
                <a:spcPts val="3119"/>
              </a:lnSpc>
              <a:spcBef>
                <a:spcPct val="0"/>
              </a:spcBef>
            </a:pPr>
          </a:p>
          <a:p>
            <a:pPr algn="ctr">
              <a:lnSpc>
                <a:spcPts val="3119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6117545" y="2866858"/>
            <a:ext cx="5550214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</a:p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599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6" tooltip="https://ieeexplore.ieee.org/document/8470942"/>
              </a:rPr>
              <a:t>Link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20565" y="2565536"/>
            <a:ext cx="550611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Kill</a:t>
            </a:r>
            <a:r>
              <a:rPr lang="en-US" b="true" sz="2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Chain Inference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12603" y="3257346"/>
            <a:ext cx="550611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599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7" tooltip="https://arxiv.org/abs/2512.15150"/>
              </a:rPr>
              <a:t>Link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2278" y="4968967"/>
            <a:ext cx="550611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CIC-IDS-2018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28018" y="5568553"/>
            <a:ext cx="550611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599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8" tooltip="https://www.unb.ca/cic/datasets/ids-2018.html"/>
              </a:rPr>
              <a:t>Link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451422" y="4968967"/>
            <a:ext cx="550611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CTU-13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51422" y="5568553"/>
            <a:ext cx="550611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599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9" tooltip="https://www.stratosphereips.org/datasets-ctu13"/>
              </a:rPr>
              <a:t>Link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166584" y="4968967"/>
            <a:ext cx="550611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SHAP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166584" y="5568553"/>
            <a:ext cx="550611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599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10" tooltip="https://shap.readthedocs.io"/>
              </a:rPr>
              <a:t>Link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4035900" y="7048245"/>
            <a:ext cx="5006493" cy="1752273"/>
          </a:xfrm>
          <a:custGeom>
            <a:avLst/>
            <a:gdLst/>
            <a:ahLst/>
            <a:cxnLst/>
            <a:rect r="r" b="b" t="t" l="l"/>
            <a:pathLst>
              <a:path h="1752273" w="5006493">
                <a:moveTo>
                  <a:pt x="0" y="0"/>
                </a:moveTo>
                <a:lnTo>
                  <a:pt x="5006494" y="0"/>
                </a:lnTo>
                <a:lnTo>
                  <a:pt x="5006494" y="1752273"/>
                </a:lnTo>
                <a:lnTo>
                  <a:pt x="0" y="17522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4922057" y="7284754"/>
            <a:ext cx="2734563" cy="4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9"/>
              </a:lnSpc>
              <a:spcBef>
                <a:spcPct val="0"/>
              </a:spcBef>
            </a:pPr>
            <a:r>
              <a:rPr lang="en-US" b="true" sz="269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MITRE ATT&amp;CK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922057" y="7817899"/>
            <a:ext cx="2734563" cy="40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b="true" sz="260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11" tooltip="https://attack.mitre.org"/>
              </a:rPr>
              <a:t>Link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9904835" y="7048245"/>
            <a:ext cx="4765294" cy="1667853"/>
          </a:xfrm>
          <a:custGeom>
            <a:avLst/>
            <a:gdLst/>
            <a:ahLst/>
            <a:cxnLst/>
            <a:rect r="r" b="b" t="t" l="l"/>
            <a:pathLst>
              <a:path h="1667853" w="4765294">
                <a:moveTo>
                  <a:pt x="0" y="0"/>
                </a:moveTo>
                <a:lnTo>
                  <a:pt x="4765294" y="0"/>
                </a:lnTo>
                <a:lnTo>
                  <a:pt x="4765294" y="1667853"/>
                </a:lnTo>
                <a:lnTo>
                  <a:pt x="0" y="16678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9541363" y="7294279"/>
            <a:ext cx="5506110" cy="40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DreamerV3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541363" y="7817899"/>
            <a:ext cx="5506110" cy="40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599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12" tooltip="https://arxiv.org/abs/2301.04104"/>
              </a:rPr>
              <a:t>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DAHUPlv6vFQ</dc:identifier>
  <dcterms:modified xsi:type="dcterms:W3CDTF">2011-08-01T06:04:30Z</dcterms:modified>
  <cp:revision>1</cp:revision>
  <dc:title>SIH2026-IDEA-Presentation-Format.pptx</dc:title>
</cp:coreProperties>
</file>